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3a4c9ac1a34c94" /><Relationship Type="http://schemas.openxmlformats.org/officeDocument/2006/relationships/extended-properties" Target="/docProps/app.xml" Id="Rd3123614d65248ba" /><Relationship Type="http://schemas.openxmlformats.org/officeDocument/2006/relationships/officeDocument" Target="/ppt/presentation.xml" Id="R92b0c34b314646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faa3373a3b488d"/>
  </p:sldMasterIdLst>
  <p:notesMasterIdLst>
    <p:notesMasterId xmlns:r="http://schemas.openxmlformats.org/officeDocument/2006/relationships" r:id="Rc852672328414932"/>
  </p:notesMasterIdLst>
  <p:sldIdLst>
    <p:sldId xmlns:r="http://schemas.openxmlformats.org/officeDocument/2006/relationships" id="256" r:id="Ra33e0f7de11f4dbb"/>
    <p:sldId xmlns:r="http://schemas.openxmlformats.org/officeDocument/2006/relationships" id="257" r:id="Rfccb5a193bce4069"/>
    <p:sldId xmlns:r="http://schemas.openxmlformats.org/officeDocument/2006/relationships" id="258" r:id="R5264cd43ef4042f3"/>
    <p:sldId xmlns:r="http://schemas.openxmlformats.org/officeDocument/2006/relationships" id="259" r:id="Reef656ba7d1847c8"/>
    <p:sldId xmlns:r="http://schemas.openxmlformats.org/officeDocument/2006/relationships" id="260" r:id="R04645e28e2994a38"/>
    <p:sldId xmlns:r="http://schemas.openxmlformats.org/officeDocument/2006/relationships" id="261" r:id="Rb2ae456eb48c49da"/>
    <p:sldId xmlns:r="http://schemas.openxmlformats.org/officeDocument/2006/relationships" id="262" r:id="R3fddcd2575c640ea"/>
    <p:sldId xmlns:r="http://schemas.openxmlformats.org/officeDocument/2006/relationships" id="263" r:id="R6c3da2ecde3942e2"/>
    <p:sldId xmlns:r="http://schemas.openxmlformats.org/officeDocument/2006/relationships" id="264" r:id="Rcd1c239b346a45f3"/>
    <p:sldId xmlns:r="http://schemas.openxmlformats.org/officeDocument/2006/relationships" id="265" r:id="Rc9559997e27645a7"/>
    <p:sldId xmlns:r="http://schemas.openxmlformats.org/officeDocument/2006/relationships" id="266" r:id="R7fe1b1316f554f60"/>
    <p:sldId xmlns:r="http://schemas.openxmlformats.org/officeDocument/2006/relationships" id="267" r:id="Rab9a58fd5ccb4e5c"/>
    <p:sldId xmlns:r="http://schemas.openxmlformats.org/officeDocument/2006/relationships" id="268" r:id="Rca7c8baf72924b53"/>
    <p:sldId xmlns:r="http://schemas.openxmlformats.org/officeDocument/2006/relationships" id="269" r:id="Rd3ef084dd3b24ba3"/>
  </p:sldIdLst>
  <p:sldSz cx="20104608" cy="11309604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df25b9aa1f40e6" /><Relationship Type="http://schemas.openxmlformats.org/officeDocument/2006/relationships/slideMaster" Target="/ppt/slideMasters/slideMaster1.xml" Id="Rabfaa3373a3b488d" /><Relationship Type="http://schemas.openxmlformats.org/officeDocument/2006/relationships/notesMaster" Target="/ppt/notesMasters/notesMaster1.xml" Id="Rc852672328414932" /><Relationship Type="http://schemas.openxmlformats.org/officeDocument/2006/relationships/presProps" Target="/ppt/presProps.xml" Id="Rcdcf501a6f2c4635" /><Relationship Type="http://schemas.openxmlformats.org/officeDocument/2006/relationships/tableStyles" Target="/ppt/tableStyles.xml" Id="R4f565ef64f194286" /><Relationship Type="http://schemas.openxmlformats.org/officeDocument/2006/relationships/slide" Target="/ppt/slides/slide1.xml" Id="Ra33e0f7de11f4dbb" /><Relationship Type="http://schemas.openxmlformats.org/officeDocument/2006/relationships/slide" Target="/ppt/slides/slide2.xml" Id="Rfccb5a193bce4069" /><Relationship Type="http://schemas.openxmlformats.org/officeDocument/2006/relationships/slide" Target="/ppt/slides/slide3.xml" Id="R5264cd43ef4042f3" /><Relationship Type="http://schemas.openxmlformats.org/officeDocument/2006/relationships/slide" Target="/ppt/slides/slide4.xml" Id="Reef656ba7d1847c8" /><Relationship Type="http://schemas.openxmlformats.org/officeDocument/2006/relationships/slide" Target="/ppt/slides/slide5.xml" Id="R04645e28e2994a38" /><Relationship Type="http://schemas.openxmlformats.org/officeDocument/2006/relationships/slide" Target="/ppt/slides/slide6.xml" Id="Rb2ae456eb48c49da" /><Relationship Type="http://schemas.openxmlformats.org/officeDocument/2006/relationships/slide" Target="/ppt/slides/slide7.xml" Id="R3fddcd2575c640ea" /><Relationship Type="http://schemas.openxmlformats.org/officeDocument/2006/relationships/slide" Target="/ppt/slides/slide8.xml" Id="R6c3da2ecde3942e2" /><Relationship Type="http://schemas.openxmlformats.org/officeDocument/2006/relationships/slide" Target="/ppt/slides/slide9.xml" Id="Rcd1c239b346a45f3" /><Relationship Type="http://schemas.openxmlformats.org/officeDocument/2006/relationships/slide" Target="/ppt/slides/slide10.xml" Id="Rc9559997e27645a7" /><Relationship Type="http://schemas.openxmlformats.org/officeDocument/2006/relationships/slide" Target="/ppt/slides/slide11.xml" Id="R7fe1b1316f554f60" /><Relationship Type="http://schemas.openxmlformats.org/officeDocument/2006/relationships/slide" Target="/ppt/slides/slide12.xml" Id="Rab9a58fd5ccb4e5c" /><Relationship Type="http://schemas.openxmlformats.org/officeDocument/2006/relationships/slide" Target="/ppt/slides/slide13.xml" Id="Rca7c8baf72924b53" /><Relationship Type="http://schemas.openxmlformats.org/officeDocument/2006/relationships/slide" Target="/ppt/slides/slide14.xml" Id="Rd3ef084dd3b24b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844dcc67c74c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5ac8fcd4ec43fb" /><Relationship Type="http://schemas.openxmlformats.org/officeDocument/2006/relationships/notesMaster" Target="/ppt/notesMasters/notesMaster1.xml" Id="Rd9af19929a044d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bf12f3dfa34063" /><Relationship Type="http://schemas.openxmlformats.org/officeDocument/2006/relationships/notesMaster" Target="/ppt/notesMasters/notesMaster1.xml" Id="Rc4c42c84451648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c9782d807b4c9e" /><Relationship Type="http://schemas.openxmlformats.org/officeDocument/2006/relationships/notesMaster" Target="/ppt/notesMasters/notesMaster1.xml" Id="Re573a99a1abf43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b58914c2c5466f" /><Relationship Type="http://schemas.openxmlformats.org/officeDocument/2006/relationships/notesMaster" Target="/ppt/notesMasters/notesMaster1.xml" Id="Rbbbadaef49b444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cf8ace59064788" /><Relationship Type="http://schemas.openxmlformats.org/officeDocument/2006/relationships/notesMaster" Target="/ppt/notesMasters/notesMaster1.xml" Id="R9f88e49803f344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df701d72714d06" /><Relationship Type="http://schemas.openxmlformats.org/officeDocument/2006/relationships/notesMaster" Target="/ppt/notesMasters/notesMaster1.xml" Id="R4895d65f9b7e4c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b5285c38bc4ebf" /><Relationship Type="http://schemas.openxmlformats.org/officeDocument/2006/relationships/notesMaster" Target="/ppt/notesMasters/notesMaster1.xml" Id="R27ff8779617348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253afdee454648" /><Relationship Type="http://schemas.openxmlformats.org/officeDocument/2006/relationships/notesMaster" Target="/ppt/notesMasters/notesMaster1.xml" Id="R4bf0ba588b4c41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1358feb75f4d41" /><Relationship Type="http://schemas.openxmlformats.org/officeDocument/2006/relationships/notesMaster" Target="/ppt/notesMasters/notesMaster1.xml" Id="R65f777acd5ab4c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2939421b3b4e45" /><Relationship Type="http://schemas.openxmlformats.org/officeDocument/2006/relationships/notesMaster" Target="/ppt/notesMasters/notesMaster1.xml" Id="R613e8fa6010c42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243d421ae34417" /><Relationship Type="http://schemas.openxmlformats.org/officeDocument/2006/relationships/notesMaster" Target="/ppt/notesMasters/notesMaster1.xml" Id="Reedc97a1419746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cb975bf01e4213" /><Relationship Type="http://schemas.openxmlformats.org/officeDocument/2006/relationships/notesMaster" Target="/ppt/notesMasters/notesMaster1.xml" Id="R868ff5b1c79e46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a03c966d354dc6" /><Relationship Type="http://schemas.openxmlformats.org/officeDocument/2006/relationships/notesMaster" Target="/ppt/notesMasters/notesMaster1.xml" Id="Ra4e5653face54d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99c9ed77114a70" /><Relationship Type="http://schemas.openxmlformats.org/officeDocument/2006/relationships/notesMaster" Target="/ppt/notesMasters/notesMaster1.xml" Id="R9715bf4f2e7348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Рабочее название продукта: Помощь AI.</a:t>
            </a:r>
          </a:p>
          <a:p xmlns:a="http://schemas.openxmlformats.org/drawingml/2006/main">
            <a:r>
              <a:t>Визуал создан специально для этой презентации с помощью генеративной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Проблемы сформулированы как гипотезы для CustDev с пользователями 60+ и их взрослыми детьми.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Первичный плательщик для семейной подписки может отличаться от конечного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Высокорисковые действия в продукте требуют отдельного подтверждения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Техническая схема MVP.</a:t>
            </a:r>
          </a:p>
          <a:p xmlns:a="http://schemas.openxmlformats.org/drawingml/2006/main">
            <a:r>
              <a:t>Android AccessibilityService: https://developer.android.com/reference/android/accessibilityservice/AccessibilityService</a:t>
            </a:r>
          </a:p>
          <a:p xmlns:a="http://schemas.openxmlformats.org/drawingml/2006/main">
            <a:r>
              <a:t>Screen capture fallback: https://developer.android.com/media/grow/media-projection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количественные значения и критерии пилота следует зафиксировать после первых интервью и тестов прототипа.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Иллюстративный пользовательский сценарий. Финальный UI будет проверяться с пользователями 60+.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основано на публичных описаниях продуктов на 25 сентября 2026 года.</a:t>
            </a:r>
          </a:p>
          <a:p xmlns:a="http://schemas.openxmlformats.org/drawingml/2006/main">
            <a:r>
              <a:t>Рядом: https://www.ryadom.io/</a:t>
            </a:r>
          </a:p>
          <a:p xmlns:a="http://schemas.openxmlformats.org/drawingml/2006/main">
            <a:r>
              <a:t>UrMorning: https://urmorning.com/</a:t>
            </a:r>
          </a:p>
          <a:p xmlns:a="http://schemas.openxmlformats.org/drawingml/2006/main">
            <a:r>
              <a:t>Gemini screen automation: https://support.google.com/gemini/answer/16940971?hl=en</a:t>
            </a:r>
          </a:p>
          <a:p xmlns:a="http://schemas.openxmlformats.org/drawingml/2006/main">
            <a:r>
              <a:t>Touchy (Y Combinator S26): https://www.ycombinator.com/companies/touchy</a:t>
            </a:r>
          </a:p>
          <a:p xmlns:a="http://schemas.openxmlformats.org/drawingml/2006/main">
            <a:r>
              <a:t>GoGoGrandparent (Y Combinator S16): https://www.ycombinator.com/companies/gogograndparent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Позиционирование для MVP: не универсальный агент, а понятный и контролируемый помощник для повседневных задач.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Росстат: численность граждан старше трудоспособного возраста на 1 января 2025 года — 35,1 млн человек.</a:t>
            </a:r>
          </a:p>
          <a:p xmlns:a="http://schemas.openxmlformats.org/drawingml/2006/main">
            <a:r>
              <a:t>Источник: https://68.rosstat.gov.ru/storage/mediabank/%D0%A1%D0%91%D0%9E%D0%A0%D0%9D%D0%98%D0%9A%202025.%20-%20%D0%A2%D0%9E%D0%9C%201.pdf</a:t>
            </a:r>
          </a:p>
          <a:p xmlns:a="http://schemas.openxmlformats.org/drawingml/2006/main">
            <a:r>
              <a:t>Mediascope, январь-сентябрь 2025: 55-69 лет — 3 ч 14 мин в интернете в день; 70+ — 1,5 часа.</a:t>
            </a:r>
          </a:p>
          <a:p xmlns:a="http://schemas.openxmlformats.org/drawingml/2006/main">
            <a:r>
              <a:t>Источник: https://t.me/s/mediascopedata/496?q=%23CrossWeb</a:t>
            </a:r>
          </a:p>
          <a:p xmlns:a="http://schemas.openxmlformats.org/drawingml/2006/main">
            <a:r>
              <a:t>10 000 семей — целевая гипотеза команды, а не фактическая метрика.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является рабочей гипотезой и зависит от результатов пилота и требований магазинов приложений.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Цены и модель монетизации требуют проверки в интервью и пилотных продажах.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показывает требуемые компетенции. Имена и фотографии команды намеренно не придуманы.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призыв: найти семьи для пилота и партнёра с релевантной аудиторией.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ac856b19d4d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23f793c084c41" /><Relationship Type="http://schemas.openxmlformats.org/officeDocument/2006/relationships/slideLayout" Target="/ppt/slideLayouts/slideLayout1.xml" Id="Rb0bc2bffa90d41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bc2bffa90d41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e85dcbe37487c" /><Relationship Type="http://schemas.openxmlformats.org/officeDocument/2006/relationships/image" Target="/ppt/media/image.png" Id="R427ffe42c35d4b4b" /><Relationship Type="http://schemas.openxmlformats.org/officeDocument/2006/relationships/notesSlide" Target="/ppt/notesSlides/notesSlide1.xml" Id="R16729e79033248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63bde2aec42b6" /><Relationship Type="http://schemas.openxmlformats.org/officeDocument/2006/relationships/notesSlide" Target="/ppt/notesSlides/notesSlide2.xml" Id="Rcf3686a93e4c4f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ec8a1237e4096" /><Relationship Type="http://schemas.openxmlformats.org/officeDocument/2006/relationships/notesSlide" Target="/ppt/notesSlides/notesSlide3.xml" Id="R32389c7e0f354f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4380ad20e4208" /><Relationship Type="http://schemas.openxmlformats.org/officeDocument/2006/relationships/notesSlide" Target="/ppt/notesSlides/notesSlide4.xml" Id="Re4ce916a50fd40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9b4ae01d84c1a" /><Relationship Type="http://schemas.openxmlformats.org/officeDocument/2006/relationships/image" Target="/ppt/media/image2.png" Id="R7c8aacf220e644cf" /><Relationship Type="http://schemas.openxmlformats.org/officeDocument/2006/relationships/notesSlide" Target="/ppt/notesSlides/notesSlide5.xml" Id="R7fe3df4785b242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28c287902406c" /><Relationship Type="http://schemas.openxmlformats.org/officeDocument/2006/relationships/notesSlide" Target="/ppt/notesSlides/notesSlide6.xml" Id="Rb6ea385e26b04c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5d24a928a479d" /><Relationship Type="http://schemas.openxmlformats.org/officeDocument/2006/relationships/notesSlide" Target="/ppt/notesSlides/notesSlide7.xml" Id="R231def415c4642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ab115ba984eea" /><Relationship Type="http://schemas.openxmlformats.org/officeDocument/2006/relationships/notesSlide" Target="/ppt/notesSlides/notesSlide8.xml" Id="Rb3a58b33a5894d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753b1aeb7446b" /><Relationship Type="http://schemas.openxmlformats.org/officeDocument/2006/relationships/notesSlide" Target="/ppt/notesSlides/notesSlide9.xml" Id="R34b3188bb2a743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da4f66fd64917" /><Relationship Type="http://schemas.openxmlformats.org/officeDocument/2006/relationships/notesSlide" Target="/ppt/notesSlides/notesSlide10.xml" Id="R57176550839d45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5948030684410" /><Relationship Type="http://schemas.openxmlformats.org/officeDocument/2006/relationships/image" Target="/ppt/media/image3.png" Id="R3511425585b14656" /><Relationship Type="http://schemas.openxmlformats.org/officeDocument/2006/relationships/notesSlide" Target="/ppt/notesSlides/notesSlide11.xml" Id="R52f2871a518f4d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d98e9442b475e" /><Relationship Type="http://schemas.openxmlformats.org/officeDocument/2006/relationships/notesSlide" Target="/ppt/notesSlides/notesSlide12.xml" Id="R55dc0e95d0b54e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09252e29249c7" /><Relationship Type="http://schemas.openxmlformats.org/officeDocument/2006/relationships/notesSlide" Target="/ppt/notesSlides/notesSlide13.xml" Id="R75e203dc65c942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55c790634454e" /><Relationship Type="http://schemas.openxmlformats.org/officeDocument/2006/relationships/image" Target="/ppt/media/image4.png" Id="Rbef77c0c2a144694" /><Relationship Type="http://schemas.openxmlformats.org/officeDocument/2006/relationships/notesSlide" Target="/ppt/notesSlides/notesSlide14.xml" Id="Rb7aea0c8862145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42EC05-8268-40DF-B707-75EC881D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15240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27A67-6881-451A-8B18-73237A1C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85900"/>
            <a:ext cx="1314450" cy="1314450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7A7A2-4D0C-4599-B59B-569544C9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314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000F5-30BB-4876-A8C3-9F561947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47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75" b="1" i="0">
                <a:solidFill>
                  <a:srgbClr val="5276F2"/>
                </a:solidFill>
                <a:latin typeface="Arial"/>
                <a:ea typeface="Arial"/>
                <a:cs typeface="Arial"/>
              </a:defRPr>
            </a:pPr>
            <a:r>
              <a:rPr sz="4875" b="1" i="0">
                <a:solidFill>
                  <a:srgbClr val="5276F2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D0AE1-D4F0-4072-8265-534A7A9E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435FD-9784-4C1D-834B-6CDB551A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48300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Голосовой ИИ-помощник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для старших пользователей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на Android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0D03F-C8A7-402B-BE33-1D2BAA3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6191250" cy="619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37D08-6F1E-466B-9121-39DC3F0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62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21DD6-B8B6-4CE1-AC3B-D629F0B4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762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DCA62-D6C7-4750-869B-262C0A24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6225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82779-7697-4688-B8C2-127E37B3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3387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B1FC0-3452-4411-BF2E-8E465CA6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4B595-45F4-43A5-8A97-BA3D7E61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AFCB7-981C-4791-BC66-4D4213B5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E3E47-B23A-4079-8D6D-6290B714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32B8F-4844-4597-804E-4E4B14C5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56FBD-00F9-4FE7-94F1-171382C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8EA6A-2939-45B4-8F89-D5CA38A3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9CC8E-88BC-4905-8068-ECEE9ADD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3CA54-0BFE-4F40-973F-0418F74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27A1C-1663-4175-8339-8DCA21E8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9D158-E280-49F6-BC4D-42C351FF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FB830-F80D-4D9E-87E9-72152CD9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B5821-034A-4730-AE26-6D5FA1C7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38414-0ECA-4562-9202-87CA7CA1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FD639-F262-4052-B96D-AA200062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C5E7D2-78D8-4DD5-84B8-A4445183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CA9C85-D8A2-49FA-B51F-6BD5A31F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BBCB6D-AB19-4DC6-9945-2ADEB0D3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C5333A-6B3B-4D34-A5F9-60A42CFE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BCD0DA-08E8-4165-9195-12E25837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99421D-807C-48C3-8485-F7A0CD2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A3E292-0F43-4772-98CA-97DB8DC0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2F2B5A-7E92-47B3-8FF0-CBA13F50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5435EE-9885-45CB-B970-8E2602AA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E0CA6-7FDF-4EEE-8B0F-F9DFDA9C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15F386-4831-4127-8F80-0A8D68C4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2A3F60-638D-4EEA-A9A9-7D32FA5E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19BCB7-2772-456D-8A00-59B9B1EA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4D2BB0-CB89-4A79-A78A-07B722E1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158434-EA18-4F73-A960-76CF9C99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798B00-D94D-45AB-9E3A-3BD004F1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61C00F-9308-4CC8-91FA-90017C1E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B3EFBF-1810-440F-9EBE-C86485A8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E4A9ED-0A76-450B-8122-323931BF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7F4660-17F5-4FDA-BCD4-2718DBE1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6617F4-531B-4C05-92AD-3ACF9142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A23567-B00F-4342-982D-3F41EE9C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7741CE-6CB2-467D-B957-BB53B41E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F7EDBA-3D17-45FE-82BB-36176A3A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ffe42c35d4b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180000">
            <a:off x="11334750" y="2714625"/>
            <a:ext cx="6667500" cy="6667500"/>
          </a:xfrm>
          <a:prstGeom xmlns:a="http://schemas.openxmlformats.org/drawingml/2006/main" prst="roundRect">
            <a:avLst>
              <a:gd name="adj" fmla="val 7714"/>
            </a:avLst>
          </a:prstGeom>
        </p:spPr>
      </p:pic>
    </p:spTree>
    <p:extLst>
      <p:ext uri="{BB962C8B-B14F-4D97-AF65-F5344CB8AC3E}">
        <p14:creationId xmlns:p14="http://schemas.microsoft.com/office/powerpoint/2010/main" val="358827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0E2100-A22C-46F6-AE56-3780EE12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864F2-567D-4E27-8EE9-97649BA1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35E4D-D61D-4608-874A-A2ED7EC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AB072-985B-44AC-B711-FAA5892D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B227E-7231-4F80-ACCF-68C3AA70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D29C8-79D6-49DE-AD47-74D50F2E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8602D-97AE-4ACB-A147-D3AC2596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1143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65764-9ED2-40A2-87AB-4B71404B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619250"/>
            <a:ext cx="5905500" cy="590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073BF-9B66-4FCE-A8F2-4B348D30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667000"/>
            <a:ext cx="3857625" cy="385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96B97-C6FC-4A3D-A387-68E7D277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8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7C2AC-1CD0-45FD-B2E7-9D032E0E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8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A03BB-F94C-4046-A2F9-2839656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8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629FC-0704-4431-8387-4C680C5B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8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87E4C-A6BA-43D2-8F2E-257C5454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68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530E0-5A14-4C6B-81D0-741D0921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8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1ECB3-B8F8-4AD7-B439-05DAFEA9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00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53929-613C-4BAD-872D-20FA047F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00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83FC8-A950-41B8-B592-81EB290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00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D44C0-1A41-48F9-AF3A-10B79AE1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00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CFCBD-E94C-427B-A28B-51B104CF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00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6170A-DAAF-4BB4-93CE-4D9CB8D2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00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74DF7-2981-438F-873A-1DC5CA1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72DB0-FAFF-4B6F-8D58-D3CA064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7EF6C-A291-4F18-B464-6D63379E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CE3990-D79D-462D-AF05-447BD751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F5184-C403-417E-A466-75FF4BAA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A86D9-F4A4-42EA-9C95-3918397A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062415-40C5-405F-A113-0DC2FD01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2095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5B618-B980-48BA-A2ED-D0A7ED5E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1725" y="2095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A10229-270A-4B33-9D24-BEA6A310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2095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8FD46-033E-452E-8D06-A238A537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25" y="2095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FBDD50-12C7-4CE8-92C4-E8747BBC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3275" y="2095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128B51-7BAE-4A6F-8E79-EBF07EC0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2095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B4BA86-B98D-43EA-B50A-BFCFC2EE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7DDEC6-8072-4C36-9F3F-19F78DF9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1725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ED53F8-502F-482D-87C0-E719F001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063C08-62E1-4252-9AFD-3038D3B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25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F8345-F3EC-428D-BC79-0376E02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3275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1F2508-0E4D-4AFE-9E35-07F25DE0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19B07-20FF-4140-8E35-1BB19F08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FCC296-8A3F-4156-A25E-95DC059E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17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EDCFC8-3096-41AD-A1BA-66E56E46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76DFF5-0ACC-491B-A0CD-D4E23EE4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94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A37616-0FDE-4037-BB00-C0A37133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327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158651-EA3A-4F66-B267-7E2E2C24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B3BBB0-3B81-42C3-B1B3-BECCBFD4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57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68B092-B105-4DB0-B69D-446D1A69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857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A2E7C7-486A-430F-BF9B-B736DE05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857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F88110-D060-461B-A52B-30C13874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857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8E73D7-0A56-48C5-8D50-C39CBA49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857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BABF76-BEAB-4E49-B1C0-B29DBED7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89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674A54-5F5C-458B-9236-57F02BE6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889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387322-33EB-4B27-9782-2C24B629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889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32A4DB-42A4-4A4F-A251-EF4C995A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889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96FA78-B39B-478E-8EEA-FB5B063B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889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E03718-5A37-43EE-A372-F75F1835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7524750" cy="28575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1A2621-8198-4590-9380-C78020C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19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C835C0-E85D-4FB2-9B20-517513A6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119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47667C-47F1-4152-A846-585612C1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2437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Мелкий текст и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сложная навигация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CD2303-809B-43DF-B69F-4AB665CC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91200"/>
            <a:ext cx="500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Нужная кнопка меняет место, название или вид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46D71B-1215-4F5C-BE28-370068FF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95750"/>
            <a:ext cx="7524750" cy="28575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A52D32-0209-4A7E-98B0-2CB92C6A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619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145BF9-FE1C-4DD0-9E5E-094EFED5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657725"/>
            <a:ext cx="119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2647E7-6139-4523-8BFD-6BE4B20B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52437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Страх ошибиться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62C326-C723-4AE7-B042-4268DAD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791200"/>
            <a:ext cx="500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Особенно при входе, сообщениях и покупках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C15064-8FF3-4050-85C8-9650196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762875"/>
            <a:ext cx="7524750" cy="28575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2D775B-595C-4FD0-A4FC-9B75F88F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8286750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1A7886-553A-4752-9A59-A9D4263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8324850"/>
            <a:ext cx="119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☎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EE82C6-9C78-482E-9D00-101E67BD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1915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Зависимость от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помощи близких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B0C2AC-4C68-4937-92A6-3A2B24E8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458325"/>
            <a:ext cx="500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Один и тот же вопрос приходится объяснять по телефону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D1CCC1-33C7-429E-9276-56DB0067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762875"/>
            <a:ext cx="7524750" cy="2857500"/>
          </a:xfrm>
          <a:prstGeom xmlns:a="http://schemas.openxmlformats.org/drawingml/2006/main" prst="roundRect">
            <a:avLst>
              <a:gd name="adj" fmla="val 1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06E55C-2828-4FB7-B37F-11CADA35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8286750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01D8434-BD18-4C2C-A01F-93257632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8324850"/>
            <a:ext cx="119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B8C5A1-8785-47C8-9B81-9566AB11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915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Мошенничество и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неверные действия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D30A2A-FAC8-4C95-9E4A-884B5A6D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458325"/>
            <a:ext cx="500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Поддельные сообщения и непонятные подтверждения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ED7564-BEEB-425D-A063-3CD432C0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1524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C6C6C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C6C6C6"/>
                </a:solidFill>
                <a:latin typeface="Arial"/>
                <a:ea typeface="Arial"/>
                <a:cs typeface="Arial"/>
              </a:rPr>
              <a:t>Смартфон даёт доступ к сервисам, но интерфейсы требуют уверенности, зрения и цифрового опыта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C1A10AF-D2FA-4BD3-AEE1-64950447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50EFBB-233B-4409-A4AE-15C1550A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0DC97D-00C1-45E8-BDBB-1EBD324C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68C7174-26DA-4533-B822-1BBE9ADB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9F359C-DD62-411E-A45E-77451679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328152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4C407F-BC25-4380-979C-30D3A5C0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E38D6-260D-443B-8DFE-A4930FA4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EDF43-8A4C-44DD-BCE3-59F8E05E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07CD3-C864-4C8C-AE49-F3347D66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29651-7B65-43E7-9D7F-3DBA962D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64456-7635-48EB-B2A1-2360651D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ЦЕЛЕВАЯ АУДИТОРИЯ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2721A-D0C6-40FE-91A2-7B6583EA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1143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71E93-8976-420F-A024-BFB37EB6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FA6E5-4D08-42B6-A878-8014BE80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3475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BC9F4-4F5E-46C4-B1C1-A4A1DD03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325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4A392-79B3-42B5-94DB-E9D0D048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175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3C2BC-C1B1-4C4D-84FF-85D23346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220B5-EBB0-4BEE-92B7-DE9E84D7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70B94-DD45-4B33-ABFE-44EB4F51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A5096-722D-426A-AC6A-A1211FF0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22AE8-3A0C-4737-A853-AB09128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3475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9A68D-F7DD-490D-8105-47E6B625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325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D3558-4DA6-4EB2-AA3F-E8D3F0C0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175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E304A-6260-4185-B129-DE12D7EA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E5189-D957-487B-BD27-16E8ABEB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ECCA5-7838-4352-9BFA-4352672B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4971D-BB75-40BE-97DB-3459B625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E0D5B-805D-4D7D-8440-21CF4B18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3475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13825-B13B-4DDB-A9F0-091C7FA4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325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DEEAF-8166-4E02-BFB2-0657A1B9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175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CEB629-F9ED-4697-B1E6-13765EDA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DE808-BFFB-4CFB-AEBB-1679FE59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6D8C3C-00BE-4A74-8593-2339C560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D76FCF-CEF8-463D-A500-DFE4A5EB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C38E39-B118-4FE5-A6D0-ECC180BD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D13BBA-1EBE-4529-A99E-70F418D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ADAB51-FF6A-4049-8399-9BC2C1F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656BE5-126D-4475-9BC3-32D169F1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2E3A63-EA59-4579-B806-266F687E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3C7705-9803-4C1D-B74A-92664D2A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B4E91A-E80C-420D-BB42-E8A4FF7E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C1BD4C-458B-4BED-997F-577ED3F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0375"/>
            <a:ext cx="7572375" cy="7429500"/>
          </a:xfrm>
          <a:prstGeom xmlns:a="http://schemas.openxmlformats.org/drawingml/2006/main" prst="roundRect">
            <a:avLst>
              <a:gd name="adj" fmla="val 43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5CCE0-35C4-4996-8BAC-6E8013A9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5476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0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60+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C3F0B-29F5-472C-93C4-666ECC7F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72125"/>
            <a:ext cx="690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Старшие пользователи (B2C)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8F637F-D5B2-4A02-A253-691019A0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781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4CB437-0939-4E9E-9023-B8E3229A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667500"/>
            <a:ext cx="609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Смартфон уже есть, но новые сценарии вызывают стресс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449726-6508-4441-8C10-7EDDACA0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02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CCB255-C325-4938-AC2E-B21E5392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905750"/>
            <a:ext cx="609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Нужен голос вместо печати и один шаг за раз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5384E5-FE12-4CEC-8413-E36F0A46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9258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796EBC-7B46-466B-B074-A9F03FFA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144000"/>
            <a:ext cx="609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Ценность: самостоятельность без риска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29C8BD-A749-4342-BC88-E836879F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000375"/>
            <a:ext cx="7572375" cy="7429500"/>
          </a:xfrm>
          <a:prstGeom xmlns:a="http://schemas.openxmlformats.org/drawingml/2006/main" prst="roundRect">
            <a:avLst>
              <a:gd name="adj" fmla="val 43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24F3F8-80A0-415D-BC2D-5063EB68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333750"/>
            <a:ext cx="5476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СЕМЬЯ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0BC169-DB23-425C-8390-31630A5A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572125"/>
            <a:ext cx="690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Взрослые дети и близкие (B2C)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9F7B14-AA77-4DED-AD29-AA2171A5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781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8E44E0-D596-45C8-9D7F-C5345859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667500"/>
            <a:ext cx="609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Регулярно помогают по телефону и в мессенджерах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2FD5FC-A7BA-4B01-9079-2AD2D70D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802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E8BAB8-D9BD-42B8-B5DE-40D19E02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7905750"/>
            <a:ext cx="609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Хотят меньше тревоги и повторяющихся объяснений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B00D64-4788-4EA8-AE44-8430089B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9258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336674-63E3-4684-80D0-69F84261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9144000"/>
            <a:ext cx="609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Ценность: спокойствие и прозрачные подтверждения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A9C957-FC90-4951-9D10-4255C087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8EB7B3-399D-40C5-8F42-7DB93D69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796BB5-2950-42A3-8CE4-CCCC3BB1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DF8269-F694-4AC8-8F62-CA1A94AA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56F561-BDE6-4993-93FF-52DEEBE5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570956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E166B0-6564-42FF-9C0A-459A5A71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9E698-A56B-43AE-AABC-2C857351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38991-85C1-4988-B485-610A9C36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DAC50-5E3B-4A1A-ABC8-21D42925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ED08C-25E0-498D-B828-0062A0C1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08C70-1671-47D6-B2D0-E4CAEA1C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F8C3F-194F-42F1-9B0F-D5EBEFFC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1143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75B0B-9CD7-45A4-B433-22CD5B9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2FB8B-9129-4673-9A38-9C55C50E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7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90733-EFD5-4A01-BB34-5B515742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C7DF0-2AAF-471F-842A-602CCC99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7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6C3E1-4862-4EE2-8478-64A92B5E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A9315-72FD-4C95-ABE2-4D72DD10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D9354-AC2B-4F22-90C9-F21F1147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9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D130C-E127-4531-B629-A97DB2F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89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FAB0E-7332-46F5-BC93-5009F1DE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9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2A85D-6639-4C11-8B56-C4FA5C6E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89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56D38-ED6D-4674-96D2-AE9ECF0A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89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9F3B6-05AA-4C2F-A9C3-CD740B60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9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19668-FEEE-418E-8157-7EE79AB7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1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5DE57-55D5-4FDF-A89C-62B48797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21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222FD-7589-4FB9-9A20-4A57B5D8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1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763E6-94A3-4553-98AF-D0056512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21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05422-B3EA-4BE4-98E9-21F1F6DA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21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108B0C-25BF-4547-AB20-099E1C86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21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E6E724-1232-4B9C-83F4-50D433AE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83254-8691-47C4-9C7B-4DAF8754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510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01512-F273-4484-8B1D-012C30CA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B6FF50-B7BB-4A14-A155-5D615C7A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46C005-829D-43EB-AC1D-2F52E67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194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59AF60-C4A6-4B96-875B-34DD1E4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5100" y="194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77B133-0476-40D1-A5A2-259FE100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0" y="194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2B9703-A8B3-4032-A5B5-0DA825BA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194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C54170-CD81-46D1-9A49-CF2EC7D4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C420CB-28AA-4D36-9F9B-3C58C9D6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510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ACC54D-C46E-436F-80C8-74AC67F3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C14520-C0E1-4D85-AA0A-E3AF968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45DBC8-E29F-426A-874F-1B53C0D0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876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44D8EF-D05A-4853-A188-6DE6A8B9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876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84EBF0-B40F-4BD9-BFE8-93440C5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876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ADAE2D-2262-46D4-A1B1-602B526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5050" y="876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66B1AB-F26C-4ABF-B7F9-B76B0A7C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900" y="876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EAB104-475E-44F1-86A7-2E2C47D6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876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C762FB-064E-4502-84E4-3585ED0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08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D8E0A1-8033-431A-B904-E546F458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08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458294-CE32-4F40-918B-74344263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08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0E6CDC-0108-4BDA-9EE7-533FE65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5050" y="908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60FA9A-9A34-45CE-9ECC-AB58738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900" y="908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60A9B4-EE19-43ED-88FA-E7EAD3C4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908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702755-BB6E-47AC-9A5D-C91EE384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10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E0FDAB-A924-478F-A142-517038A7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410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68002F-9E35-45C0-AE7F-A0B3A2D6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410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970F37-EF1B-4EDC-968C-C9A49B65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5050" y="9410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C8C5D2-E3A6-4300-9129-7F76D415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900" y="9410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4BF357-5D9E-4F1F-BB6C-5DB1D122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9410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198D5B-F1A8-420D-A848-A6ACC909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1466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C6C6C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C6C6C6"/>
                </a:solidFill>
                <a:latin typeface="Arial"/>
                <a:ea typeface="Arial"/>
                <a:cs typeface="Arial"/>
              </a:rPr>
              <a:t>понимает просьбу, видит текущий экран и помогает выполнить действие простыми шагами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A10612-8B5A-4130-9082-12D2F9D2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95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9E9B3E-6739-45E7-BC53-7C697354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4337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1. Слышит просьбу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0F5094-910E-45EA-BA76-2264B01E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1495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Пользователь говорит: «Позвони внуку» или «Открой Госуслуги». Помощник уточняет только то, без чего нельзя продолжить.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D1D8ED-44F0-44C9-B192-0A647351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293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DDF58F-23C6-4648-9EB2-48C6E2E4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5312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2. Понимает экран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30827E-F5B5-4041-BDD8-99D174D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572250"/>
            <a:ext cx="1495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Читает дерево интерфейса Android. Если элементов недостаточно, использует снимок экрана и визуальную модель.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510B41-B9B4-405F-9399-F728EBC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8390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3E2ADD-E0D0-4A87-B13A-0CDE31E2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76287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3. Объясняет и помогает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327BAE-FC49-4554-97AA-5F8A57AA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382000"/>
            <a:ext cx="1495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Говорит, куда нажать, подсвечивает следующий шаг и может выполнить разрешённое действие.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962D94-7640-475F-AB14-856EDF9C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6488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78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0E0726-F15D-4EEC-BD1D-6ED6F4DD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57262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4. Сохраняет контроль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FF6DB2-5DE7-4BF9-8A5D-5E05312A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0191750"/>
            <a:ext cx="1495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Перед звонком, отправкой сообщения, покупкой или передачей данных всегда показывает понятное подтверждение.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9942E2-E4E3-4A8C-9570-1A044F34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1143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FFAB86-B6AE-4CEB-B1EC-CB00B264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9F1811-C571-45FF-85FC-CAE30B2B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B257522-81BA-4139-BD5F-2CEED8D4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9BE5238-76C7-42D8-B3A9-BA71062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69F3B1-DCAC-4663-8F31-C585D3DD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400543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546530-D18A-4450-8B2F-DDC36665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AF3BC-CB2E-4EDE-B3E4-665EEA33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7C847-D781-4E7C-9844-C2B8035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D2C23-9579-4EA2-8D76-CB873CF6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99DB3-DDF3-480F-97B7-8C800FE0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81874-2527-4C18-83E4-A47092A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ТЕХНОЛОГИЧНОСТЬ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A1A9E-E5BC-460C-AE8D-4E5EF7AA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1143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419AD-407F-46EF-9417-18C4AC7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5B6AA-1E29-4408-BE07-7AB5253B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046A7-8F07-4CF0-92B5-83315F8D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8F9ED-D98F-4AF7-91B9-3ACD7608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559A8-478A-4DE1-BFD1-C6BBAA57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710A7-9100-4F7E-BBF0-CAF52E8C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EF624-0062-454E-8104-7CE95439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B18FD-9A6D-4DF0-9A79-1B1B45D2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BE8BC-5E92-4F3E-827A-B0654F07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95F46-6752-4851-AF6F-5A023644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41AB6-D2B9-4A05-8FC5-F0D6974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C3B40-4580-4129-BB63-1AA4CFA3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2F0CE-A12F-44EF-ACAD-EC25579B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BF2BC-2856-4E30-BF4F-614AFB9B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Android Accessibility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573E8-99B4-4F44-8521-E267DA34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UI-дерево как основной источник: текст, роли, кнопки и доступные действия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15FC2-6C7E-49B1-A19D-C1595A8E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387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8FBBD-8273-4A60-96D6-F7D9A6A2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Визуальный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6A37C-3FE7-48AA-AED1-A7034CFD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6737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Снимок экрана и мультимодальная модель, когда дерево неполное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2A491A-DFF9-4C07-B9AF-E4CAA806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991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2822CE-6B47-48B3-BD2D-82154CBE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9532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Голосовой слой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F8B36B-572F-4BBE-A982-E03E256D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200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Распознавание речи, простой русский ответ и озвучка без мелкого текста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A011E-5CF9-4A56-AEA9-8F8600F4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943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9641DF-4129-4D6A-BDCE-7FF7C19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90587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Контур безопасности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1D200C-3081-4438-81D0-1A91AF0A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57262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Белые списки действий, подтверждения риска и журнал выполнения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aacf220e644cf"/>
          <a:srcRect xmlns:a="http://schemas.openxmlformats.org/drawingml/2006/main" l="21898" t="0" r="218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0"/>
            <a:ext cx="9534525" cy="11309604"/>
          </a:xfrm>
          <a:prstGeom xmlns:a="http://schemas.openxmlformats.org/drawingml/2006/main" prst="roundRect">
            <a:avLst>
              <a:gd name="adj" fmla="val 5395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43DCC-4EC9-4DAC-A3C5-A520A1C9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AD262D-C38E-4972-BB54-D7E737B9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84812F-C6B1-48B6-B27B-7B5221E1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A94DB5-EC1F-4555-9621-7548A862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2EE5F3-B8B0-42DB-936D-2D11FA04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920764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17174E-AF8C-4C2B-9264-F22B4CEE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572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MVP +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50463-821B-432D-BC43-C4BA41FF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BC125-FE2A-459D-877F-1AD1404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8EEF8-901B-4BAA-A8C0-702349C4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FE3D4-61E3-40E4-BB12-EBAAC001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C8744-6484-4960-810E-0299B50D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5FFDA-C449-4EED-B113-CDC562BA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060CA-9675-4C06-A479-28DB021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EC97B-EBA1-4B2E-876C-089E5CAB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AECAC-5EA6-4F07-A86E-020A23D4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5EF69-7408-4736-A506-734E7A04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64316-3431-4B70-B03E-DD2C98A3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57DD0-0DE0-41F4-B3A0-DBC7F18C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3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7B693-19CF-4DED-B312-0BE5630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3F646-DF6B-493D-88A0-D9074BF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130F8-1F1F-46DB-88E9-4762F53B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3EF8D-3634-43E6-B022-0F48514F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32D81-8081-4776-BEA5-CE6CEF82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FA5BE-A7CC-4A6D-82FD-64F0EE78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5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1EE69-2946-4074-8654-4D1637B6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0" y="1524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D18D9-40B5-4EB8-AE40-EE3C7759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850" y="1524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20B49-C129-4B7C-A60C-6E79C681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524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A7CA3-3A33-4783-AB4B-A7A87115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550" y="1524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F23BA-515F-4A8C-AD3A-6B300BCF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0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7F304-4C95-4419-A681-98D6630A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850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EB5DBD-BE71-49F6-9193-CA24799C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4D55A-FF98-4C4F-ACFD-D8E8AB17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550" y="184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543D7-BA83-4EF5-9619-A914CDD7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14AF6-A770-48D1-BDFB-803B407F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85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4213B3-59BC-4235-A3B5-E0F8E230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6F16CC-DE2E-47FB-A75A-B89D3DF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55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816C5F-C492-4871-9531-9E4462D7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CCF1BB-6A3B-4491-935E-4106983E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22264B-703A-4273-98F0-5F768CD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3D24D-20A5-4F17-BCA4-B0E9E069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FCB9D8-12D3-450F-A6FF-1D0D6A86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576DF1-9988-4E5E-96D4-D3F38228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60ABF0-E13E-42D2-842C-AC6D33E8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Цель пилота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667DB9-E43D-4921-B35D-EADC9E30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1628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Понять, может ли помощник снизить число ситуаций, когда человек бросает задачу или звонит близким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72E73B-FCA7-4B40-8652-0E07B53A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В MVP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62DF1B-314A-4532-80C9-2BA41C0E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76875"/>
            <a:ext cx="9048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4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• голосовой запрос и озвученный ответ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24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• открытие приложений, прокрутка и безопасные нажатия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24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• пошаговые подсказки поверх чужих приложений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24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• подтверждение перед звонком, отправкой сообщения и передачей данных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1FC453-B2EC-4358-8DFF-0040C9C9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Не входит в MVP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3B96E9-59C7-4919-81C4-FB331960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76875"/>
            <a:ext cx="7810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4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• платежи, переводы и ввод банковских реквизитов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24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• автономное заполнение сложных форм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24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• постоянное чтение экрана в фоне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2400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• медицинские, юридические и финансовые решения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93B938-8B26-4BD5-BB5E-BCF8A8A6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191625"/>
            <a:ext cx="17716500" cy="11430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685922-41C9-4576-B39C-BA4CB161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9477375"/>
            <a:ext cx="1695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Метрики пилота: завершение сценария • число подсказок • время выполнения • доля отказов • критические ошибки</a:t>
            </a:r>
          </a:p>
        </p:txBody>
      </p:sp>
    </p:spTree>
    <p:extLst>
      <p:ext uri="{BB962C8B-B14F-4D97-AF65-F5344CB8AC3E}">
        <p14:creationId xmlns:p14="http://schemas.microsoft.com/office/powerpoint/2010/main" val="1057031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036758-E66E-4BFF-A81B-4AA4C58D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684BE-08E6-4B55-911D-BEC281BC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69712-EF00-4AE0-8D0F-60374F3D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13CB1-A818-4BBB-9739-86193719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63585-AFAA-44D2-90D3-74104683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C5400-89A6-4AC5-9AAF-00950EED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7A6D1-898E-4655-8CAC-EB99EFE5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1143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A969E-F061-4CDB-A0DF-185FE80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66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CC23D-65DB-4CA3-BEB8-E3DE64B5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66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F9A93-2BE1-4C1E-A1EC-DF671ECD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66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487D2-BCFE-4EBD-B9EA-DDD9282C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0" y="66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075E4-4579-494C-AD7E-0A90FB55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0" y="66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45D07-E7C7-4E85-BBD0-4ECBDFD6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0" y="66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07958-1F22-4BF4-812B-661D3C46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9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1C7AF-A7AD-4AA1-86C4-E51AE0A3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9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CC884-8053-402D-A023-B09D236E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99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0F68C-02F8-4E59-8518-9AA2C746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0" y="99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42392-9699-44E1-A28B-B6EEFDC4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0" y="99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BF575-EB90-4ED5-97C2-F8A011FD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0" y="99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99905-BE34-4942-A681-53063FE2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131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C6054-21D6-4857-8BB0-8CE3B0BF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131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B83C2-9D9D-4487-8F9D-771A6045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1700" y="131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931ED-943C-4ED0-B86E-C035C9B9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5550" y="131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B7FA9-5072-4E5A-BF81-DE95B2B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0" y="131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B3EEE-D0FB-4513-A109-0281E277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0" y="131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8140B-C56A-4763-BDE4-4F5ACC43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8EB587-F1EF-4A87-9429-ABD645F0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027A45-8BF0-429D-9FF6-4BF90A67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E074FF-C648-46CE-B115-D830EEBF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0F70A0-8A9E-4EE3-8D64-85BD5583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886B63-3CD0-4EEC-A577-F4689093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C5BCEB-9FEB-4BF6-8516-4DCDE0E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049683-4DDC-45D7-A980-7E026F5D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81A418-045F-40A0-AB0D-25C253BF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5619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66675">
            <a:solidFill>
              <a:srgbClr val="9BAA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EA5FBB-C0AD-4F77-AA25-FC97D960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71825"/>
            <a:ext cx="5200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9DB0C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2750F3-110C-4D99-8086-9C3E89C5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480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02C893-A4BB-46D6-B4CE-5AAE1E91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005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Скажите, что нужно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7BD73A-333C-45FE-A4EF-D55DF23F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012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069716-9530-46FE-BEFB-31A2D3A5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0060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4C8712-0D32-4FBC-9057-73A7DC55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769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Большая кнопка микрофона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576E7D-63CB-4F7E-9118-7292BD36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0375"/>
            <a:ext cx="5619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66675">
            <a:solidFill>
              <a:srgbClr val="9BAAC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B819AC-192B-457B-BF9E-6515C7C2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71825"/>
            <a:ext cx="5200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9DB0C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0735E-1E83-4DD0-9D95-32A75831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480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 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0A8908-37C8-4868-A42A-74D67FD4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«Открой Госуслуги»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1E0E6A-AB0D-4670-A810-7320A279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05375"/>
            <a:ext cx="371475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E59F35-5B39-4C3D-9A9B-535111F5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815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Слышу вас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7A30BB-02A0-488B-BBE1-74935895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769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Распознавание просьбы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E29CFC-4EEB-4979-9076-44FEFDB7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000375"/>
            <a:ext cx="5619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66675">
            <a:solidFill>
              <a:srgbClr val="9BAAC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7B5A40-864F-4E6C-9FFA-A030349A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171825"/>
            <a:ext cx="5200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9DB0C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506521-A34A-4B9A-9164-D6EF109E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2480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 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B13250-EBD9-4FC5-9525-5C47BE45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40005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385E7F-2515-47C4-B929-F10501A8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4857750"/>
            <a:ext cx="36195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EBA01B-9E77-4FA4-94F7-84C98CB9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49434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ВОЙТИ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12D078-0638-4E48-B0C2-BEBC0CA3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8769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Нажмите «Войти»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075F8E-F091-4CD4-B31E-63699C54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953250"/>
            <a:ext cx="5619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66675">
            <a:solidFill>
              <a:srgbClr val="9BAAC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36E169-C490-4F6D-9ABC-9E004471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124700"/>
            <a:ext cx="5200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9DB0CE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CEBFC9-918C-4BA6-B5C5-B9D218C6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200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 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D38AF9-96C2-4255-A871-630D65F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9533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E5C583-1CBD-47F9-8FF0-17566365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763000"/>
            <a:ext cx="1952625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6606EF-0DE2-4C0B-8A22-FDC00A42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0"/>
            <a:ext cx="1952625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972E0F-5EE3-4293-B6BB-402C6CB8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8773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Отмена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462066-EB23-4BB2-AEA8-69729CF9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8773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Открыть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8D4B73-D76E-484B-BB92-45618659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8298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Открыть приложение?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7C7D51-442F-4D52-A94D-1CA578CF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953250"/>
            <a:ext cx="5619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66675">
            <a:solidFill>
              <a:srgbClr val="9BAAC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9D9A94-3959-4B07-BB86-AFC695A4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7124700"/>
            <a:ext cx="5200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9DB0C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EE6A00-94CF-491E-9624-2953B2DB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200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 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9F62EF-2A86-4FBD-96A8-EAC42B9C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9533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004D0B-BCDC-4C30-8F67-1975C1F2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86677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24DFF8-79F5-4EBB-B24F-EB605E8A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8715375"/>
            <a:ext cx="1104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EB398B-84A9-4A45-975F-10C505A2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8298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Госуслуги открыты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14D8E1-96F5-4FF6-BC9A-7049572A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BB1EE8-17D1-4E32-B23C-ACFD0AB2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875924B-B5ED-45DE-93EF-6704BDF5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9379BB-2896-43DF-A78D-886204DC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0DA735-99A8-474E-81C4-6EEEF5A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21245795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21458F-FF7D-40F0-B4FD-17C721CC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07264-4833-4466-8FE0-4CEC3954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7DB6A-4D58-465F-92EC-7495440D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F594E-C5CA-4B05-BC77-3361A244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68F37-B7B7-4575-B0D4-E670D521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E4ABB-DD75-40C7-AA3E-D012638E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F65E8-7BD1-47FA-984B-102A3884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Конкурентов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4C9EA-CC2F-43E4-A398-A868011C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E48A7-75E4-4622-B2F4-BD233D1F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01F5D-BEEB-4030-8C49-427314DE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FE55E-4AB7-4F5B-9D27-55F621D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2ECE7-A281-4C7E-B22A-066FFC61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0EE3B-566F-4B08-9CBF-95789370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A6CB5-BB02-4375-9DB1-AD963F16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9E2C1-0DEE-4A33-84D5-637D1688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1E208-CA58-4CEC-B76A-FACB2AF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14ACF-515B-4D51-9810-E773B278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6FFF6-5562-43BD-B13A-BDDD6416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95F7F-418D-4D86-9985-2979BF4B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3DBBA-9443-4907-9779-F9B6B1E8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0D6DF-72D3-4DFE-ACD9-12E57415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432CE-DC67-45FB-9CCE-D55D31E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17B2D-DD6D-422D-B5F5-6B76B7AC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BD969-E7EE-44B3-BBD9-B2B1540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C8051-C462-481F-BA4D-40FF3EEB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4680E2-F033-4021-947C-3C8B5717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F4711-29E3-44A7-97D8-534E6AD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612BA9-8C7B-4022-B89E-A55F3B95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0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71A18-C82A-4E2B-A7A0-4E577A42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857500"/>
            <a:ext cx="3619500" cy="7429500"/>
          </a:xfrm>
          <a:prstGeom xmlns:a="http://schemas.openxmlformats.org/drawingml/2006/main" prst="roundRect">
            <a:avLst>
              <a:gd name="adj" fmla="val 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DA82F2-3042-4252-A50B-3C265A8F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Рядом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48CE0-72E2-478C-8C72-155D9AD9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UrMorning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408E84-9922-4820-8E29-B9927331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480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A4546B-BFEA-4E63-A0FB-EB90E6BB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30480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7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C22657-B2FA-472F-B692-0FED1AF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D7C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F38EC9-EAD8-499E-A82E-63B44DF6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Для старших пользователей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AB292A-AB8E-48C4-864D-EA4CAF8F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7685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7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0E14BC-19D9-4228-97FE-F9F912C5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38394D-0114-45D8-BAE0-32E95057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76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84790C-7643-4EEA-B8FC-862D6DA8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17C568-9803-4BC4-ADEE-774FF6D6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476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C61890-8933-49BE-A61C-15FD76A6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3243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47453C-D0E7-4B05-A1B4-DFB94F5C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44CABA-3E05-49A3-A24D-3E482832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4476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9F2D58-1EC8-4C80-AEC4-4AD5778C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Понимает текущий экран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104B69-6E11-4E80-91E3-53FFBFD7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9605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7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C7013C-C2B5-4944-BAA1-A26FBCC5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81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19050">
            <a:solidFill>
              <a:srgbClr val="0D7CF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D4B737-4EF6-409F-AB20-1D85161F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81650"/>
            <a:ext cx="209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58B701-D689-430F-8318-C45A14B3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581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6CEEEA-56E1-4C8F-A4CD-AFFC067F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695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6923D7-3FAD-4D88-A916-22FBC090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581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AF5D33-A524-4A2A-ACC9-476B16AA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695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518356-5C66-4B0B-A523-10AD97B7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5581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D06F95-1BD0-44C7-8DD5-E599833A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5695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06854B-3779-4EF9-8A54-8346554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7056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Выполняет действия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123D99-7885-4AD6-8F19-5F6FB68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71525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7D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2AFA6B-7417-4C7C-A276-905F32A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762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086FF9-6459-4115-AB98-E305DCA6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6762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17533E-2340-44A5-9340-B0B9F45D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80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19050">
            <a:solidFill>
              <a:srgbClr val="0D7CF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1BED93-6448-4833-A9DB-F7828D45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6800850"/>
            <a:ext cx="209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0319EB-1B17-4748-8512-37753554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6800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5E1782-05E4-41F8-AB44-F6C576D3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6915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429C95-07EB-46D5-A9E1-9E8A44F0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9248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Подтверждает риск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E48F88-D822-448E-A90A-C755DC32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93445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7D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F10533-3DAF-4C73-87D0-37ADDE92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981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2BDD1A-6DD5-4753-B6D3-E0E6C0C9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802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19050">
            <a:solidFill>
              <a:srgbClr val="0D7CF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D47EF0-CBC1-4A96-BE95-96FCBB32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8020050"/>
            <a:ext cx="209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3EB384-8EEC-4121-8BE4-8233AF37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802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9FC7B7-E419-4171-9020-2037E23D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8134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BF781E9-ABF5-4469-8B37-E295A68B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802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AF8CDA-A93B-400A-A167-C9CBD1A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8134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B5FF46-7774-4271-A3A1-E5A77118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1440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Android в России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F5380F-56A1-4F49-9938-EAE1F851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0153650"/>
            <a:ext cx="1695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7D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8DA37A5-B908-4E0A-9DD5-46CF1D24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239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43A6FF-F241-4110-9AC2-BCD28D5F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9353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AAABC7F-CB9F-457F-AB76-CC09F932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9201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8FE1C5-B9D9-4910-BC36-89E4E410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9201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BF7A9C-555C-4A3B-AA9A-0DE8694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9239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F109CA4-4FEC-4BB4-BD46-5B1943E8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9353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826C74A-6581-4541-A172-3083BCC5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0382250"/>
            <a:ext cx="1657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YC: Touchy показывает спрос на голосовой агент для смартфона, но не фокусируется на аудитории 60+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D00FF4-672F-4284-B186-66A8100A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80DCBD2-020D-4C0D-B664-9B438B7E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A3A8CFC-0B2A-416A-962B-3712CCDE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C00F1D-E697-48D5-B8F6-5DD91795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459D5D7-9D55-43B5-BD2F-BB25DDA0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378608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10938F-E18B-4101-A9A1-E34275A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044A9-3179-4910-839A-5E6159BC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3134D-FEBB-42A7-A048-84D9D9D1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75404-E048-46DF-98E3-224AD85F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51D58-C167-4B55-B1AC-30DDE4F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7DE47-7A33-4F58-9934-CC174A07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КОНКУРЕНТНЫЕ ПРЕИМУЩЕСТВА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8314F-A94B-4B74-98FF-0283A089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1143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247A2-3961-4549-BCF1-A5A67AEC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CB997-04EE-46A0-911D-4B71F39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1A838-CE6E-4CB4-B901-936BD313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82FDA-503F-46F4-A9DD-5204F134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9A5C4-9165-4DDB-88BB-B3DFBD57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5320C-1270-4D5A-9D34-90039516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0" y="71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81F27-8799-4C76-AF1D-3E18659E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B66C3-881C-4C9D-8BB8-DDCFD0C6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B8E4D-65DC-481C-9ED7-F55885A2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8E51F-383C-44DC-81C0-EC24389E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5101C-4AF2-487E-B3ED-D4DBD60E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665E2-CAC7-4C73-9E30-841F6105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0" y="1038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71CD7-131B-4434-A2D8-BB594A7A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BD9A5-BDEC-4B48-B201-CFE6C76F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4197D-08F8-4114-B162-5BE64C22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F5750-75F4-444B-AFF1-628A4D1B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824D1-EAEE-4D27-9B84-90F049F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71A32-C180-40F0-B133-49B6D3D3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0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AF9BCE-7A87-470E-AFD7-AA57132A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DB7E0-E49D-48BF-A0A7-C7C5C0FA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369177-4FCB-45A2-B9AE-1880D641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B77178-7344-4BE2-B752-095A739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09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53F30-7AAA-402B-8DEE-F91D8B77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C9061D-061E-41C6-BB7B-3FC0E72C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CDF4BD-945B-4860-93FC-DA839218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6D6DB6-75F6-4FE2-87C6-5912B916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42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3B2942-40AE-4C7F-A80D-B3EEAF32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38572F-DC40-48A2-AFA1-6E8959CE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38500"/>
            <a:ext cx="1428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Интерфейс под реальные ограничения 60+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CE9C43-B63C-468D-9287-574D3070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86200"/>
            <a:ext cx="1409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Крупные элементы, короткая фраза, один следующий шаг и спокойная озвучка.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B54EA1-8F23-4E6B-921F-D4FA89EB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EF75EF-2822-4659-BE91-4EC57302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91125"/>
            <a:ext cx="1428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Объяснение перед действием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15BCB1-6925-4BFF-8146-92047839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38825"/>
            <a:ext cx="1409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Пользователь понимает, что произойдёт, прежде чем помощник нажмёт кнопку.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D8D31B-958C-40E0-81B3-5AED27BD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191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62C8B3-ED42-453F-B11E-9E556D3D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143750"/>
            <a:ext cx="1428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Безопасность встроена в сценарий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081360-2B60-48DB-86D2-25603DC8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791450"/>
            <a:ext cx="1409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Звонки, сообщения, покупки и передача данных требуют явного подтверждения.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8D3F04-49B0-4548-A4A3-010FEB5E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144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3ECF46-A37C-4ABB-A22C-0A49C0B1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9096375"/>
            <a:ext cx="1428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Android-first и независимость от одной модели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331AC9-031A-43DA-84F8-8B074F4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9744075"/>
            <a:ext cx="1409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UI-дерево остаётся основой, а поставщик речи и LLM меняется через адаптер.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F37041-E8A8-4F06-9D91-3602484F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E4612-80A2-467F-856C-C380BC65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361F7C-43B4-47FB-B9BF-18B640CC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11E413-DC22-4575-A3C5-D10861C2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6C54B9-0D01-4A0E-B253-F835C721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381855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D2CD10-5AB9-49A1-83DD-FA2F2F61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04582-E7A2-4484-9830-16E97465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5C941-C2F2-49FE-96BA-341F2E3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AEE61-404B-432A-ACDD-2FBC6B9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0453D-1E91-49EA-8233-6290AA2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A4047-E24C-4935-9BB9-B9279DA9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РЫНОК И ЦИФРОВОЕ ПОВЕДЕНИЕ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F9B27-05D3-4003-A700-8BEC33F4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685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949DD-8B50-4837-8B85-2CDDCC86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BE1F9-70DC-4739-B7A1-4DD4D454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86C8A-EBE6-45CA-8D98-B151E48F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6AC69-23E5-4375-98AD-0AD0C3D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E0348-05E4-44CE-9005-2DC66EBC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09ACB-CF74-4D11-A8EA-0FE2A574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CEFF2-8CCC-4453-B156-95C40B63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6B3C0-A5EE-48F6-8F8E-55E8CD2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B439E-E3C6-4AE4-B4DB-D6EB42B6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36896-07AB-4490-9948-E10DF028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7A241-F0DE-45F2-B662-558ADEE8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5CE0C-9790-4BCA-A354-0AB55530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5ADEA-EC49-443B-A5ED-114BC2F0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5F193-9584-4309-9CDB-16D6A5E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61720-90D2-4DD1-8379-60FFD1FE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F8BE9-4EA0-4058-AED2-55778980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1A5A0-0EF3-4437-BAA1-3EC8E24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94C29-A715-414F-B9B9-1107D710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B3846-A868-40AC-B80E-80F0854B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D7B6C0-9F40-4CE1-ADA4-FE3EA533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3A2016-9F30-4184-BBC1-CCBCB060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137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E9123-A1CB-43BA-A8AB-A5F3CBFE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D3847-813F-41D1-A2BC-A0B20C2A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84AC8-C2BE-4618-A26F-F149B896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220328-7144-46F0-9494-84AD23E2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9F8F6E-4E6D-490D-9300-613B89FF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4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F3C983-EC96-4CA3-91A4-C388DFFF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FE647-8BF0-4DA2-985C-4EF69AF7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769CD8-5DFC-49F5-82ED-814CF4EA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209548-6EEB-49E1-BBCB-DD80D55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E459C1-67C7-4F91-B4D0-596A6BC2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37DBA0-6938-4343-A55D-BBB6CC8E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40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8F248B-9849-440C-8688-328DB00C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83821E-7162-407D-BED1-2A5264C1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2B784D-AD86-4980-AF8D-B656F500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824A32-EE92-4722-BD3B-AB2FDC79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1B4306-3723-4906-9C87-58DB5027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EC2DA3-9BD4-4500-9970-CBCEC16D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40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8C556B-ADB1-4F3F-8F3B-D83307D6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2A0E1E-7D3E-4999-87B0-E0907C8C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B76F69-6497-45E9-956B-B880CF12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43250"/>
            <a:ext cx="5048250" cy="504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150B14-A849-474A-AF3A-CE213B50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7FF"/>
          </a:solidFill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E9C4F2-60BA-4EC9-A9C7-040B61D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47625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EC2460-4FA5-4BEB-9D8F-4DA1F64F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9053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6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35,1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46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млн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9AC6E1-2F59-485E-A672-0458C49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3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3 ч 14 мин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43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в день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BC07CF-DBAB-45B3-8416-FB5071D4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05375"/>
            <a:ext cx="2714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825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1 ч 30 мин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825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в день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9A2B20-7D7B-421A-BA93-DC9084F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552450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10 000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семей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0D487E-4B4E-46F3-9062-E1EDB2A4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09625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людей старше трудоспособного возраста в России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84EECA-D893-418A-B946-0545B5B7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33437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среднее время в интернете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для аудитории 55-69 лет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B6EDCD-D701-485E-AB94-1B3AA9C9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343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среднее время в интернете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для аудитории 70+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0D2317-F23A-468E-956A-28E949CC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915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цель SOM на 24 месяца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2C5703-498E-4BA1-91EA-2884D52B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810750"/>
            <a:ext cx="1409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1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Цифровая активность старших растёт: интернет становится привычным, а интерфейсы остаются сложными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8A1286-8B6E-4809-BD66-ACC0D285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565577-425B-43D6-9956-B1B89DE1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04FA72-AFC1-48E1-B7EE-EF0EEEA0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C9CFE8-0EC4-4230-9CB5-EE2654BD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94AD1D-6CA3-45D2-8AFB-E773A672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884923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E72284-7A36-4CC2-B5CF-D6BD79A4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6460E-A800-44DD-A009-A207C311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A4BF1-A78F-436C-9F1E-BB3FE3FF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8A91E-0052-4AC3-A3A5-329326DE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B1E25-3FFF-4C8E-B351-48FFF4B7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0F5EC-7C02-49FB-A04E-B5966BA3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ПЛАН РАЗВИТИЯ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52483-F62B-40D9-9DE0-E52C263A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1143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65036-A5C8-408F-B1E5-0BE87762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EEB75-CA90-4566-9686-FD14D340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7406E-5AE0-4DA6-93E9-8191008E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4E5B4-5979-47E1-9369-9D5DBA91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3D0DF-01C3-45F7-976E-086E0691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89B09-150C-4FD9-9DBD-EB82AF33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66CA8-F83A-4D09-8266-C247E9C4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9A2E7-08C5-4AE2-A670-56BCAC8F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27499-BC23-4920-82E6-E66B9183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82ADC-1785-485E-A742-7DFA1060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68472-4B3E-4AE0-B0FA-483D366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35416-3612-4B2E-853C-6A48ADE0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40F0C-A5F6-43AC-B4FA-7DC55498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81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A0A94-2968-4FD8-9C58-4652E756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0-3 месяца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13170-B696-479E-9A50-2BA84DA1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576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Android MVP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36004-790E-4117-9BB7-4205DA9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437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Голос, объяснение экрана, открытие приложений, безопасные действия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E1700-0E40-4A0C-830B-CE1AEFA2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72B71-8BBD-4083-81B7-C339382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0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4-6 месяцев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22A21-939B-4899-BF94-8488DC56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3341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Пилот с семьями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26A562-8A45-4898-A51A-DDF67FAF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00087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Сценарии Госуслуг, связи, транспорта и защиты от подозрительных сообщений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FE6FA-3069-434C-BBEE-E9B69044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34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52A38-C889-44C9-94E2-1BD38974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286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7-12 месяцев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6C6D1-B4AC-4C49-A565-2BF129C3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8106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Партнёрства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78A2C-C163-4B02-99B8-2D0050F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947737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Банки, телеком, клиники и white-label с ограниченным набором действий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1425585b14656"/>
          <a:srcRect xmlns:a="http://schemas.openxmlformats.org/drawingml/2006/main" l="21898" t="0" r="218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0"/>
            <a:ext cx="9534525" cy="11309604"/>
          </a:xfrm>
          <a:prstGeom xmlns:a="http://schemas.openxmlformats.org/drawingml/2006/main" prst="roundRect">
            <a:avLst>
              <a:gd name="adj" fmla="val 5395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10735C-0043-42E1-BA55-5182FFEB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3ABB9B-3215-4BE2-860B-B492694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8CDB12-47FF-4573-995C-ACFD4D52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379B2D-F2C9-48CF-93C0-F1150213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8F4C31-07E8-4E61-A12F-80FCFAC3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251479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800644-7F53-4D51-BFC1-4CB6203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29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МОНЕТИЗАЦИЯ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9E690-1852-46EB-8596-3F401E09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021FB-1DD9-4753-B0A8-75031E79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6268A-72EE-4848-A71C-043F33FE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2DA56-20B1-4893-933C-F8DD54C0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47F36-993E-4EB4-9471-35C93F2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9AA44-BEDE-4418-85F2-DA6B449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FAA13-19DD-4BCF-B943-C94B539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F36C2-A5F6-4DBB-B6F4-2BDE5143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AE139-D8DB-4B01-8B15-9D9DCA32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3841E-C6D5-4B1D-A90D-F9326EFB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F0803-47AD-4D2C-A26F-24F39CB1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E0950-D438-4FEA-AB26-0A287FD5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4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01429-0718-4F7C-A8CB-D0547ABD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E8FB4-3EAC-47A3-8107-E0EB969D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4BB63-AA2E-456F-A248-C61218B9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6A98B-7797-430C-B8D2-1BAFEF2B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AB17C-B046-4748-814E-756803DE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A3DB6-E6D0-4A15-AD18-6FC2CDC9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6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F2984-DBE2-4CD1-ADA9-A02668A3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1571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88644-6FD6-4284-A7ED-8F43124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5600" y="1571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49A35-BDBC-4831-81CC-477242CC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9450" y="1571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D329C-9C93-4B0C-95C4-A160FB5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1571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BCD1D-4C88-40EE-A383-F8A9E395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BD23E-9EE3-4F28-A7DE-B50EF7C7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5600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C8BB9-1C7B-409C-B498-E6473FC4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9450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54D433-CAB8-4EDF-AE2A-E2D0F547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189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B71331-27C3-464D-8E80-7AFDF32F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2219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40AE6-9B83-4E65-99DA-A97C5A7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5600" y="2219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509BF9-FA16-4E10-8E1E-8F619942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9450" y="2219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7C72E-CF85-46C3-8008-C5B7EA27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2219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AEB36-9EB9-4338-BA06-1164251C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82D1B2-4FF8-4013-9C17-13A48782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95C3A4-A354-4BB9-9B5D-0BC5DF8D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E855C-EF5C-48C0-99EE-BCF79017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3386C-9887-4DB1-A03B-3244ADB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77B2FC-5341-45F7-980D-789C46F8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EF324A-BB14-4566-9B36-7633DE77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5238750" cy="6953250"/>
          </a:xfrm>
          <a:prstGeom xmlns:a="http://schemas.openxmlformats.org/drawingml/2006/main" prst="roundRect">
            <a:avLst>
              <a:gd name="adj" fmla="val 10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E3B93D-7674-43B4-8258-B5ED5BAD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4476750" cy="2095500"/>
          </a:xfrm>
          <a:prstGeom xmlns:a="http://schemas.openxmlformats.org/drawingml/2006/main" prst="roundRect">
            <a:avLst>
              <a:gd name="adj" fmla="val 17273"/>
            </a:avLst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03A6BC-CFD6-4288-A972-153007AB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СЕМЬИ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8D2891-E736-4448-8627-D77A76C6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4191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Подписка за одного близкого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399-599 ₽/мес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7-14 дней тестового периода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9FA2B3-7A3C-4ECD-B2EA-EFD3B7E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5238750" cy="6953250"/>
          </a:xfrm>
          <a:prstGeom xmlns:a="http://schemas.openxmlformats.org/drawingml/2006/main" prst="roundRect">
            <a:avLst>
              <a:gd name="adj" fmla="val 10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6FFF3D-A1AA-4986-AD5F-F9081C1C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4476750" cy="2095500"/>
          </a:xfrm>
          <a:prstGeom xmlns:a="http://schemas.openxmlformats.org/drawingml/2006/main" prst="roundRect">
            <a:avLst>
              <a:gd name="adj" fmla="val 17273"/>
            </a:avLst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3F6B60-BB94-493C-9831-288A62F5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ПАРТНЁРЫ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92523F-ADF6-4BBE-8844-87A86D8C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86375"/>
            <a:ext cx="4191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Лицензия за активного пользователя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White-label для банка, телекома или клиники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Пилот с ограниченным набором сценариев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298B3A-87C2-4ADF-81E6-EB1BD80F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333625"/>
            <a:ext cx="5238750" cy="6953250"/>
          </a:xfrm>
          <a:prstGeom xmlns:a="http://schemas.openxmlformats.org/drawingml/2006/main" prst="roundRect">
            <a:avLst>
              <a:gd name="adj" fmla="val 10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0D984E-DB68-4B87-8846-0148A60A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2619375"/>
            <a:ext cx="4476750" cy="2095500"/>
          </a:xfrm>
          <a:prstGeom xmlns:a="http://schemas.openxmlformats.org/drawingml/2006/main" prst="roundRect">
            <a:avLst>
              <a:gd name="adj" fmla="val 17273"/>
            </a:avLst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D2BD82-7C95-4D7C-9166-47C08C83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3143250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ОРГАНИЗАЦИИ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B49FAB-F66E-4CF7-AC6B-8755B90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286375"/>
            <a:ext cx="4191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Лицензия на устройство или площадку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Пансионаты, центры долголетия, НКО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Обучение сотрудников и поддержка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317486-D86B-4236-9F85-52EFA6FE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858375"/>
            <a:ext cx="1524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Цены — гипотеза для теста willingness to pay, а не утверждённый прайс</a:t>
            </a:r>
          </a:p>
        </p:txBody>
      </p:sp>
    </p:spTree>
    <p:extLst>
      <p:ext uri="{BB962C8B-B14F-4D97-AF65-F5344CB8AC3E}">
        <p14:creationId xmlns:p14="http://schemas.microsoft.com/office/powerpoint/2010/main" val="865043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60EF02-72AE-4C7A-A807-A7B10D3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533C4-A457-4288-A99B-A087A14E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AC88D-7CC2-4CD0-AB57-D9E1F01D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D9EAC-3F05-4B21-9D09-8B1CBD41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6043C-4658-4DCC-BEF2-464582BE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691C3-D14F-42C0-8DFE-2D3C0A4F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477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КОМАНДА ДЛЯ ПИЛОТА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923C2-8D5E-4315-86BB-63747E9B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5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94D2D-DF06-412C-80F8-CF505307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85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69A7D-93DB-41BD-85FF-82EB012A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5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47D9E-0348-463E-AAF8-B5ECA21A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85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B2DE1-0023-4E15-AE43-70AA4B8E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85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99C97-EEA0-4A64-BEAB-3090065C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5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AA03F-40ED-4C0E-866F-40A2CB62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8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4875A-A923-406D-A4D6-33CF4E8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18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05FD9-3D70-4805-B248-F531347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18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610E3-37B3-4CE1-B08A-9B468A1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18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2C4CD-E619-4617-9389-3D91222D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8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8DDAD-4966-42DF-A814-606E4E87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18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EFCD4-F688-43BE-9073-E45BE3B3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B1FB2-F729-41B5-819B-7A6AF0EC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0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99A09-93ED-4A68-80A7-A27B2468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0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05FC0-10C9-4FB8-AFA6-2D12A588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0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CA498-FDA8-4D74-A78B-0A671DD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50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52E65-B600-4833-B423-D83F1866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50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F1F5D-20F6-4C27-A13D-6294D335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2D2FD-EB30-4D6D-A6C6-FBCF62A7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035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6D0F5-023B-4E81-ABBB-0CC45A3F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A4420-FD38-42AA-80CA-170C372D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92FE0A-14A9-45D6-8B9C-A846105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194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CE734-E69A-4926-A4D8-83C93A28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0350" y="194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5ECE6C-009D-4D53-8181-5AC4419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194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5039A2-9279-497C-8C2E-0873393D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94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91B594-FEE4-40BE-93AA-C10CACC2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BD7086-8241-469F-90D3-879282AA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035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3CD1A7-C642-4096-B422-0F533DA9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5248AF-C4DC-4F8B-9A65-D690199A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368432-D7AF-45E2-8C7D-7C0363CA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FF1EEF-525A-427E-A1A5-C7264309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4BF449-7B5A-400C-8BCE-BCD23FC9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2E5297-1469-4BE2-B791-9328FBCB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9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4ACA7F-0CB2-41B2-A2C1-E56FBDFB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C496AB-F8BB-4420-A506-97A1D24D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BE92E6-CC18-489D-A101-F7098E9F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10FEF7-43F3-48B4-8668-A1CCC161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51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AD7C13-6943-4246-99B5-286B7F04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F"/>
          </a:solidFill>
          <a:ln xmlns:a="http://schemas.openxmlformats.org/drawingml/2006/main" w="47625">
            <a:solidFill>
              <a:srgbClr val="0D7C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969416-C134-4586-AF67-4370FE2B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57625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DEEDD7-E5E6-4D20-B561-91F2173D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43375"/>
            <a:ext cx="257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D013D9-0CD9-42AE-8125-732D649F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667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ANDROID И ДОСТУПНОСТЬ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995748-FDE4-47B0-A442-D6AF6788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429625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AccessibilityService, overlay, производительность и публикация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8F1EC2-0FC3-45B5-A72F-1803BDA8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F"/>
          </a:solidFill>
          <a:ln xmlns:a="http://schemas.openxmlformats.org/drawingml/2006/main" w="47625">
            <a:solidFill>
              <a:srgbClr val="0D7CF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5C0650-67F1-4326-ADF4-AC0FBA86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57625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CF4E7F-AE6B-47C2-8EA9-8F27C0B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43375"/>
            <a:ext cx="257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82BE60-33F4-41E7-86C9-2D046F79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667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VOICE AI И BACKEND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696BD7-6E9F-475B-A8CE-B280B898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8429625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Речь, мультимодальная модель, сценарии действий и наблюдаемость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E68CB7-912A-4FEB-A76C-3FCB902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3143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F"/>
          </a:solidFill>
          <a:ln xmlns:a="http://schemas.openxmlformats.org/drawingml/2006/main" w="47625">
            <a:solidFill>
              <a:srgbClr val="0D7CF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E0B493-DBE8-4FD5-B5C3-669BBDA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3857625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F7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BA9D2D-3AC0-4B3C-86A7-C1C778E8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4143375"/>
            <a:ext cx="257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UX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99518A-DFBD-48DC-8965-C8B08B57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7667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ПРОДУКТ И UX 60+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95ACAD-9E4D-4114-86C8-C73F6237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8429625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CustDev, тесты с семьями, безопасность и партнёрства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BC1311-5FA9-4E5F-9258-DAFC8E71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334625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0" i="0">
                <a:solidFill>
                  <a:srgbClr val="767676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7676"/>
                </a:solidFill>
                <a:latin typeface="Arial"/>
                <a:ea typeface="Arial"/>
                <a:cs typeface="Arial"/>
              </a:rPr>
              <a:t>Нужны консультации геронтолога и специалиста по антифроду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6EEA50-4D03-4A60-84E5-AB553A34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" cy="11309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184F65-3340-4C84-BB25-32EAD772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8600"/>
            <a:ext cx="552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П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М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Щ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Ь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1500" b="1" i="0">
                <a:solidFill>
                  <a:srgbClr val="5D7CF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7C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27C351-52F7-4EF9-A451-8684983A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6A09D6-7479-4332-AB5C-138F7A59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05025"/>
            <a:ext cx="476250" cy="476250"/>
          </a:xfrm>
          <a:prstGeom xmlns:a="http://schemas.openxmlformats.org/drawingml/2006/main" prst="roundRect">
            <a:avLst>
              <a:gd name="adj" fmla="val 2600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FEAA8B-D060-4CEA-AA7C-4D710B40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145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248976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ECDB34-30CA-43D6-BF12-4D77B009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15240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DBE6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88655-7D83-49DD-ADF2-3A210B47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85900"/>
            <a:ext cx="1314450" cy="1314450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5D7C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ACE93-744C-494D-82E2-0F869BCD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95425"/>
            <a:ext cx="1314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F2F4E-D6CE-4DD2-92D0-1644C21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47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75" b="1" i="0">
                <a:solidFill>
                  <a:srgbClr val="5276F2"/>
                </a:solidFill>
                <a:latin typeface="Arial"/>
                <a:ea typeface="Arial"/>
                <a:cs typeface="Arial"/>
              </a:defRPr>
            </a:pPr>
            <a:r>
              <a:rPr sz="4875" b="1" i="0">
                <a:solidFill>
                  <a:srgbClr val="5276F2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F2A13-C60E-468C-90D0-9091F12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 i="0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Помощь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0AB86-EB51-402A-A058-604698BC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752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0" i="1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50505"/>
                </a:solidFill>
                <a:latin typeface="Arial"/>
                <a:ea typeface="Arial"/>
                <a:cs typeface="Arial"/>
              </a:rPr>
              <a:t>«Попросил голосом.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000" b="0" i="1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Понял следующий шаг.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000" b="0" i="1">
                <a:solidFill>
                  <a:srgbClr val="050505"/>
                </a:solidFill>
                <a:latin typeface="Arial"/>
                <a:ea typeface="Arial"/>
                <a:cs typeface="Arial"/>
              </a:defRPr>
            </a:pPr>
            <a:r>
              <a:rPr sz="3000" b="0" i="1">
                <a:solidFill>
                  <a:srgbClr val="050505"/>
                </a:solidFill>
                <a:latin typeface="Arial"/>
                <a:ea typeface="Arial"/>
                <a:cs typeface="Arial"/>
              </a:rPr>
              <a:t>Подтвердил важное действие»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02B0B-0984-4E08-AB9D-97C93A00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2867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D7CF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D7CF7"/>
                </a:solidFill>
                <a:latin typeface="Arial"/>
                <a:ea typeface="Arial"/>
                <a:cs typeface="Arial"/>
              </a:rPr>
              <a:t>Готовы запустить пилот с семьями и партнёром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A3735-4D36-4500-BE54-76D9568E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6191250" cy="619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DCA0F-4678-4768-B105-6741CE49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62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A13B4-F06D-44D4-A431-A6A3609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762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11475-4C16-4823-92CB-E607C14A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6225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957F0-0B13-4B01-A21A-FA46BC48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3387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A25F6-E6CB-475B-89D0-4A4A941A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5D743-2037-411C-8B04-905A3576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3A6C3-F22D-4A09-8E83-9C3FDD65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DFF7B-752E-4AFC-ABAA-98F482A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37B8B-248C-4DB1-B730-409A02C8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53ED0-A45D-4A56-9B58-7C1A6FA9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5B995-4145-4ECC-8B85-769ED1BA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6CDEA-6F2A-4540-B3FC-11F3B8BA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440E8-D667-4A6E-829D-1B33CFE8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A5D609-B333-421A-9ECF-BC5E5F71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EC78E-82CB-4AA2-8446-34232BFA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20760-C6A3-40CD-A14C-558D07F6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D34FD5-4107-4D79-8633-B0CCB2AD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6B9F3-BE0A-4F21-8D8B-6FE6D627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AB674-0D9F-4D8A-A5AB-D46AEE2A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D0860-46E1-4AB9-95B5-665F6021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D4F2BC-3C4E-412A-882E-F922C1B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353B4B-8226-4B49-A662-D830D9CF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6BBBA2-AC03-420D-8497-A1A2C7D5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4AA0DE-8B39-414B-8D4B-9F9C7081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DD8E18-C10C-423E-BDB5-0713D3CA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D0BC29-DC3D-46B4-8E96-CB1D346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8A87A-2250-48D6-BAC4-4F3D94FB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2613AB-8F56-4A4F-A2D4-89E6FE2B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C55569-3867-4E24-8A48-3D85EC34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AF2ABA-8240-406A-B7E4-A64906D6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03D978-5084-4C28-B371-5DA193C6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23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2D644B-D3DE-4134-9B43-D2668811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C4CC2B-DDB1-40C0-85F8-FF3D136F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9C0A89-3C61-4BDF-839D-F9DD6FCE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6DE7C3-F408-4763-8E18-D9E2BFE8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F80608-C6BD-44F0-B487-FAFFA657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C1D071-3628-43FA-BE80-1A6E55C3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56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F3D21E-2278-4B3A-BC80-F0679A32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8BA04C-5287-47EB-ADDE-28516ADB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12D760-C408-4815-83FA-C6222893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9C6D44-2CFE-4BDA-8EE3-AA5F0E9F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F95BB0-AFDB-490D-94C9-4FDCD93F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A47B69-CAFC-4843-9761-C2312F3A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88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E"/>
          </a:solidFill>
          <a:ln xmlns:a="http://schemas.openxmlformats.org/drawingml/2006/main" w="0">
            <a:noFill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77c0c2a1446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180000">
            <a:off x="11334750" y="2714625"/>
            <a:ext cx="6667500" cy="6667500"/>
          </a:xfrm>
          <a:prstGeom xmlns:a="http://schemas.openxmlformats.org/drawingml/2006/main" prst="roundRect">
            <a:avLst>
              <a:gd name="adj" fmla="val 7714"/>
            </a:avLst>
          </a:prstGeom>
        </p:spPr>
      </p:pic>
    </p:spTree>
    <p:extLst>
      <p:ext uri="{BB962C8B-B14F-4D97-AF65-F5344CB8AC3E}">
        <p14:creationId xmlns:p14="http://schemas.microsoft.com/office/powerpoint/2010/main" val="20406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2026-09-25T17:35:20.4780000Z</dcterms:created>
  <dcterms:modified xsi:type="dcterms:W3CDTF">2026-09-25T17:35:20.4780000Z</dcterms:modified>
</coreProperties>
</file>